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346" r:id="rId2"/>
    <p:sldId id="370" r:id="rId3"/>
    <p:sldId id="371" r:id="rId4"/>
    <p:sldId id="381" r:id="rId5"/>
    <p:sldId id="359" r:id="rId6"/>
    <p:sldId id="383" r:id="rId7"/>
    <p:sldId id="380" r:id="rId8"/>
    <p:sldId id="360" r:id="rId9"/>
    <p:sldId id="382" r:id="rId10"/>
    <p:sldId id="361" r:id="rId11"/>
    <p:sldId id="357" r:id="rId12"/>
    <p:sldId id="363" r:id="rId13"/>
    <p:sldId id="364" r:id="rId14"/>
    <p:sldId id="365" r:id="rId15"/>
    <p:sldId id="366" r:id="rId16"/>
    <p:sldId id="367" r:id="rId17"/>
    <p:sldId id="368" r:id="rId18"/>
    <p:sldId id="376" r:id="rId19"/>
    <p:sldId id="372" r:id="rId20"/>
    <p:sldId id="373" r:id="rId21"/>
    <p:sldId id="379" r:id="rId22"/>
    <p:sldId id="374" r:id="rId23"/>
    <p:sldId id="378" r:id="rId24"/>
    <p:sldId id="375" r:id="rId25"/>
    <p:sldId id="377" r:id="rId26"/>
    <p:sldId id="369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0E04"/>
    <a:srgbClr val="00B0F0"/>
    <a:srgbClr val="0091EA"/>
    <a:srgbClr val="FF0000"/>
    <a:srgbClr val="00B415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>
      <p:cViewPr varScale="1">
        <p:scale>
          <a:sx n="78" d="100"/>
          <a:sy n="78" d="100"/>
        </p:scale>
        <p:origin x="1613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EA6E38-82B1-47BB-A812-313B295FEFF2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089E94-532B-494D-AD7A-712B16D9F5A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098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146133-C2C6-42E5-9F03-188AA2A4A162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8BA59-4BA8-474B-9E6B-DB8305AE0DF5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KumbaraKala | Anushka Basak | 1JS22CS024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20535-4F21-44E9-A0C2-BB5BBC7096A6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KumbaraKala | Anushka Basak | 1JS22CS024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33EEB-1F82-459A-AFF4-1D0FFBD6D0BA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KumbaraKala | Anushka Basak | 1JS22CS024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50A2-D1EA-427E-A128-930FFC9D86FA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KumbaraKala | Anushka Basak | 1JS22CS024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F993A-3352-400F-B8B8-4A08BD86395B}" type="datetime1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KumbaraKala | Anushka Basak | 1JS22CS024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F89E4-F6F4-4937-B946-0050F0D6E0F7}" type="datetime1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KumbaraKala | Anushka Basak | 1JS22CS024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2AD2F-3AC0-4503-B1E9-53EF6E7235E8}" type="datetime1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KumbaraKala | Anushka Basak | 1JS22CS024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2A319-FBFD-441A-A9F2-F6E02FAC8ED8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KumbaraKala | Anushka Basak | 1JS22CS024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B4E50-1420-4621-B449-344D141F13ED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KumbaraKala | Anushka Basak | 1JS22CS024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27E95-7379-4381-8B0C-C594A3C974D8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KumbaraKala | Anushka Basak | 1JS22CS024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9618-4D4B-46DB-9B13-9A57A3808D35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KumbaraKala | Anushka Basak | 1JS22CS024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70416-8A9B-4EFB-B708-057BD8C2D713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KumbaraKala | Anushka Basak | 1JS22CS024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B3369-7666-44EB-AEA9-5FA9440DB4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76200" y="5260896"/>
            <a:ext cx="7870723" cy="1581150"/>
          </a:xfrm>
          <a:effectLst>
            <a:outerShdw dist="17961" dir="2700000" sx="1000" sy="1000" algn="ctr" rotWithShape="0">
              <a:schemeClr val="bg2"/>
            </a:outerShdw>
          </a:effectLst>
        </p:spPr>
        <p:txBody>
          <a:bodyPr>
            <a:noAutofit/>
          </a:bodyPr>
          <a:lstStyle/>
          <a:p>
            <a:pPr algn="l">
              <a:defRPr/>
            </a:pPr>
            <a:r>
              <a:rPr lang="en-US" sz="2400" b="1" dirty="0">
                <a:solidFill>
                  <a:schemeClr val="bg2"/>
                </a:solidFill>
              </a:rPr>
              <a:t>DEPARTMENT OF COMPUTER SCIENCE AND ENGINEERING</a:t>
            </a:r>
            <a:br>
              <a:rPr lang="en-US" sz="2400" b="1" dirty="0">
                <a:solidFill>
                  <a:schemeClr val="bg2"/>
                </a:solidFill>
              </a:rPr>
            </a:br>
            <a:r>
              <a:rPr lang="en-US" sz="1600" b="1" dirty="0">
                <a:solidFill>
                  <a:schemeClr val="bg2"/>
                </a:solidFill>
              </a:rPr>
              <a:t>INTERNAL GUIDE – Ms. Sandhiya B ( Associate Professor)</a:t>
            </a:r>
            <a:br>
              <a:rPr lang="en-US" sz="1600" b="1" dirty="0">
                <a:solidFill>
                  <a:schemeClr val="bg2"/>
                </a:solidFill>
              </a:rPr>
            </a:br>
            <a:r>
              <a:rPr lang="en-US" sz="1600" b="1" dirty="0">
                <a:solidFill>
                  <a:schemeClr val="bg2"/>
                </a:solidFill>
              </a:rPr>
              <a:t>EXTERNAL GUIDE – Mr. </a:t>
            </a:r>
            <a:r>
              <a:rPr lang="en-US" sz="1600" b="1" dirty="0" err="1">
                <a:solidFill>
                  <a:schemeClr val="bg2"/>
                </a:solidFill>
              </a:rPr>
              <a:t>Tirumal</a:t>
            </a:r>
            <a:r>
              <a:rPr lang="en-US" sz="1600" b="1" dirty="0">
                <a:solidFill>
                  <a:schemeClr val="bg2"/>
                </a:solidFill>
              </a:rPr>
              <a:t> </a:t>
            </a:r>
            <a:r>
              <a:rPr lang="en-US" sz="1600" b="1" dirty="0" err="1">
                <a:solidFill>
                  <a:schemeClr val="bg2"/>
                </a:solidFill>
              </a:rPr>
              <a:t>Mutalikdesai</a:t>
            </a:r>
            <a:r>
              <a:rPr lang="en-US" sz="1600" b="1" dirty="0">
                <a:solidFill>
                  <a:schemeClr val="bg2"/>
                </a:solidFill>
              </a:rPr>
              <a:t> (Program Coordinator)</a:t>
            </a:r>
            <a:endParaRPr lang="en-US" sz="2400" b="1" dirty="0">
              <a:solidFill>
                <a:schemeClr val="bg2"/>
              </a:solidFill>
            </a:endParaRP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-342900" y="1511399"/>
            <a:ext cx="9601200" cy="2753801"/>
          </a:xfrm>
          <a:effectLst>
            <a:outerShdw dist="17961" dir="2700000" sx="1000" sy="1000" algn="ctr" rotWithShape="0">
              <a:schemeClr val="bg2"/>
            </a:outerShdw>
          </a:effectLst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nn-NO" sz="58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Kumbara-Kala</a:t>
            </a:r>
            <a:r>
              <a:rPr lang="nn-NO" sz="5800" dirty="0">
                <a:solidFill>
                  <a:schemeClr val="bg1"/>
                </a:solidFill>
              </a:rPr>
              <a:t>:</a:t>
            </a:r>
            <a:r>
              <a:rPr lang="nn-NO" sz="11000" dirty="0">
                <a:solidFill>
                  <a:schemeClr val="bg1"/>
                </a:solidFill>
              </a:rPr>
              <a:t> </a:t>
            </a:r>
          </a:p>
          <a:p>
            <a:pPr>
              <a:defRPr/>
            </a:pPr>
            <a:r>
              <a:rPr lang="nn-NO" sz="2900" b="1" dirty="0">
                <a:solidFill>
                  <a:srgbClr val="FFFF00"/>
                </a:solidFill>
              </a:rPr>
              <a:t>Digital Branding for Clay Artisans</a:t>
            </a:r>
            <a:endParaRPr lang="en-IN" sz="2900" b="1" dirty="0">
              <a:solidFill>
                <a:srgbClr val="FFFF00"/>
              </a:solidFill>
            </a:endParaRPr>
          </a:p>
          <a:p>
            <a:pPr>
              <a:defRPr/>
            </a:pPr>
            <a:r>
              <a:rPr lang="en-US" sz="2900" b="1" u="sng" dirty="0">
                <a:solidFill>
                  <a:srgbClr val="FFFF00"/>
                </a:solidFill>
              </a:rPr>
              <a:t>Theme: </a:t>
            </a:r>
            <a:r>
              <a:rPr lang="en-US" sz="2900" b="1" i="1" u="sng" dirty="0">
                <a:solidFill>
                  <a:srgbClr val="FFFF00"/>
                </a:solidFill>
              </a:rPr>
              <a:t>State Pride / Handicraft Revival</a:t>
            </a:r>
          </a:p>
          <a:p>
            <a:pPr>
              <a:defRPr/>
            </a:pPr>
            <a:r>
              <a:rPr lang="en-IN" sz="21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of the Internship: </a:t>
            </a:r>
            <a:r>
              <a:rPr lang="en-US" sz="21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 APP DEVELOPMENT USING GEN AI</a:t>
            </a:r>
            <a:endParaRPr lang="en-IN" sz="21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2900" b="1" i="1" u="sng" dirty="0">
              <a:solidFill>
                <a:srgbClr val="FFFF00"/>
              </a:solidFill>
            </a:endParaRPr>
          </a:p>
        </p:txBody>
      </p:sp>
      <p:pic>
        <p:nvPicPr>
          <p:cNvPr id="1026" name="Picture 2" descr="About VTU – Visvesvaraya Technological University">
            <a:extLst>
              <a:ext uri="{FF2B5EF4-FFF2-40B4-BE49-F238E27FC236}">
                <a16:creationId xmlns:a16="http://schemas.microsoft.com/office/drawing/2014/main" id="{46A9BB5E-209A-AEF5-B1D1-2F0A273D7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"/>
            <a:ext cx="14097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JSSATEB (@jssateb) / Posts / X">
            <a:extLst>
              <a:ext uri="{FF2B5EF4-FFF2-40B4-BE49-F238E27FC236}">
                <a16:creationId xmlns:a16="http://schemas.microsoft.com/office/drawing/2014/main" id="{A3071479-D4D1-8D9F-A650-78A9D8D5D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8774" y="189271"/>
            <a:ext cx="15240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indMatrixEd | LinkedIn">
            <a:extLst>
              <a:ext uri="{FF2B5EF4-FFF2-40B4-BE49-F238E27FC236}">
                <a16:creationId xmlns:a16="http://schemas.microsoft.com/office/drawing/2014/main" id="{EF6C1741-92E9-1096-A81A-69359E5CA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247650"/>
            <a:ext cx="19050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44029C-FD19-C192-AF7C-43E23346F1F3}"/>
              </a:ext>
            </a:extLst>
          </p:cNvPr>
          <p:cNvSpPr txBox="1"/>
          <p:nvPr/>
        </p:nvSpPr>
        <p:spPr>
          <a:xfrm>
            <a:off x="-152400" y="1514782"/>
            <a:ext cx="266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2"/>
                </a:solidFill>
              </a:rPr>
              <a:t>Visvesvaraya Technological University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D7E6BB-5396-EA90-2B84-227C1F7ACFEE}"/>
              </a:ext>
            </a:extLst>
          </p:cNvPr>
          <p:cNvSpPr txBox="1"/>
          <p:nvPr/>
        </p:nvSpPr>
        <p:spPr>
          <a:xfrm>
            <a:off x="6849397" y="1585452"/>
            <a:ext cx="25232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2"/>
                </a:solidFill>
              </a:rPr>
              <a:t>JSS Academy of Technical Education, Bengaluru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FF34C8-4C3B-77B5-B86D-FD1A61D4DE93}"/>
              </a:ext>
            </a:extLst>
          </p:cNvPr>
          <p:cNvSpPr txBox="1"/>
          <p:nvPr/>
        </p:nvSpPr>
        <p:spPr>
          <a:xfrm>
            <a:off x="3628717" y="1511399"/>
            <a:ext cx="1728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solidFill>
                  <a:schemeClr val="bg2"/>
                </a:solidFill>
              </a:rPr>
              <a:t>MindMatrix</a:t>
            </a:r>
            <a:endParaRPr lang="en-IN" b="1" dirty="0">
              <a:solidFill>
                <a:schemeClr val="bg2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5E76B3A-044F-1C3D-7D00-7A04EDA9B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DB419-99E9-DF61-0AA2-E72DAA8F2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7374"/>
            <a:ext cx="8229600" cy="114300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COMPANY OVERVIEW</a:t>
            </a:r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63FD85-078D-6E36-67D1-8689EDFF3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KumbaraKala | Anushka Basak | 1JS22CS024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04145-13A9-0C86-9719-9BF7F1B4E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5378A2-8B4E-EA7E-FF01-1641CE5349D5}"/>
              </a:ext>
            </a:extLst>
          </p:cNvPr>
          <p:cNvSpPr txBox="1"/>
          <p:nvPr/>
        </p:nvSpPr>
        <p:spPr>
          <a:xfrm>
            <a:off x="342900" y="1050795"/>
            <a:ext cx="8458200" cy="5305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THE COMPANY: </a:t>
            </a:r>
            <a:r>
              <a:rPr lang="en-IN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MindMatrix</a:t>
            </a:r>
            <a:endParaRPr lang="en-US" sz="18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ADDRESS: </a:t>
            </a:r>
            <a:r>
              <a:rPr lang="en-US" sz="1800" b="1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MindMatrix</a:t>
            </a:r>
            <a:r>
              <a:rPr lang="en-US" sz="1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#651, Kiran Arcade, 4th Floor, 13th Cross, 27th Main Road, 1st Sector, HSR Layout, Bangalore – 560102</a:t>
            </a:r>
            <a:endParaRPr lang="en-IN" sz="18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an IT services and education company established in 2017, focused on industry-aligned training.</a:t>
            </a: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18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DURATION OF THE INTERNSHIP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STARTING DATE</a:t>
            </a:r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 February 2026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ENDING DATE</a:t>
            </a:r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May 2026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MODE OF INTERSHIP</a:t>
            </a:r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</a:t>
            </a:r>
            <a:endParaRPr lang="en-US" sz="1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ADDRESS</a:t>
            </a:r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HSR Layout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NAME OF THE EXTERNAL GUIDE</a:t>
            </a:r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 Tirumal Mutalikdesai</a:t>
            </a:r>
            <a:endParaRPr lang="en-US" sz="1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DESIGNATION</a:t>
            </a:r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Coordinator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787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608DC-1168-1E25-5E05-921E9A3CF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OBJECTIVES</a:t>
            </a:r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3474D-E7F0-3246-2302-03A0089BA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KumbaraKala | Anushka Basak | 1JS22CS024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CF38A-4C0E-FB25-3558-10145693F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63EF83-FD2A-CF39-A1D3-4DB99E4D5A3A}"/>
              </a:ext>
            </a:extLst>
          </p:cNvPr>
          <p:cNvSpPr txBox="1"/>
          <p:nvPr/>
        </p:nvSpPr>
        <p:spPr>
          <a:xfrm>
            <a:off x="304800" y="1927627"/>
            <a:ext cx="8534400" cy="3002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gain practical exposure to industry-level tools and workflows in AI and cloud-based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To understand and implement AI-driven customer service automation using Salesforce platforms.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To learn how to design and configure intelligent service agents for real-world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To develop skills in flow-based automation to improve efficiency and reduce manual work.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To enhance knowledge of cloud computing through hands-on practice using Salesforce Playgrounds.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To improve problem-solving, technical, and professional skills required in a corporate environment.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To bridge the gap between academic learning and real-world industry practices.</a:t>
            </a:r>
          </a:p>
        </p:txBody>
      </p:sp>
    </p:spTree>
    <p:extLst>
      <p:ext uri="{BB962C8B-B14F-4D97-AF65-F5344CB8AC3E}">
        <p14:creationId xmlns:p14="http://schemas.microsoft.com/office/powerpoint/2010/main" val="618120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FBEEE-A2D2-6309-66CF-5EEC0F6D0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ROLES AND RESPONSIBILITIES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B5C36D-8475-3680-58E6-A0285B45F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KumbaraKala | Anushka Basak | 1JS22CS024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44509-2333-CE53-0852-A9EE2743A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174F26-60AB-B54B-EAAE-FD434CA194BB}"/>
              </a:ext>
            </a:extLst>
          </p:cNvPr>
          <p:cNvSpPr txBox="1"/>
          <p:nvPr/>
        </p:nvSpPr>
        <p:spPr>
          <a:xfrm>
            <a:off x="152400" y="1905000"/>
            <a:ext cx="8763000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Attended regular training sessions to understand AI concepts, Salesforce platform, and industry practices.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Completed hands-on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codelabs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guided exercises to gain practical experience.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Practiced using Salesforce Playgrounds for development, testing, and simulation of applications.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Performed application testing, debugging, and UI improvements.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Documented daily learning progress and maintained internship reports.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Collaborated with peers and followed instructions from mentors to complete assigned tasks.</a:t>
            </a:r>
          </a:p>
        </p:txBody>
      </p:sp>
    </p:spTree>
    <p:extLst>
      <p:ext uri="{BB962C8B-B14F-4D97-AF65-F5344CB8AC3E}">
        <p14:creationId xmlns:p14="http://schemas.microsoft.com/office/powerpoint/2010/main" val="511484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68"/>
          <p:cNvSpPr>
            <a:spLocks noChangeArrowheads="1"/>
          </p:cNvSpPr>
          <p:nvPr/>
        </p:nvSpPr>
        <p:spPr bwMode="gray">
          <a:xfrm>
            <a:off x="1295400" y="533400"/>
            <a:ext cx="6696075" cy="22860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hlink">
                        <a:gamma/>
                        <a:shade val="46275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latinLnBrk="1">
              <a:defRPr/>
            </a:pPr>
            <a:r>
              <a:rPr lang="en-US" sz="2800" b="1" dirty="0">
                <a:solidFill>
                  <a:srgbClr val="FFFFFF"/>
                </a:solidFill>
                <a:latin typeface="Sitka Display" pitchFamily="2" charset="0"/>
                <a:ea typeface="MiSans" pitchFamily="34" charset="-122"/>
                <a:cs typeface="MiSans" pitchFamily="34" charset="-120"/>
              </a:rPr>
              <a:t>Problem Statement &amp; Objective</a:t>
            </a:r>
            <a:endParaRPr lang="en-US" sz="2800" dirty="0">
              <a:latin typeface="Sitka Display" pitchFamily="2" charset="0"/>
            </a:endParaRPr>
          </a:p>
          <a:p>
            <a:pPr algn="ctr" latinLnBrk="1">
              <a:defRPr/>
            </a:pPr>
            <a:endParaRPr kumimoji="1" lang="en-US" altLang="ko-KR" sz="2800" dirty="0">
              <a:solidFill>
                <a:schemeClr val="bg1"/>
              </a:solidFill>
              <a:latin typeface="Sitka Display" pitchFamily="2" charset="0"/>
              <a:ea typeface="굴림" pitchFamily="34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C955AD-D03A-AAD1-2D37-EA949096617A}"/>
              </a:ext>
            </a:extLst>
          </p:cNvPr>
          <p:cNvSpPr/>
          <p:nvPr/>
        </p:nvSpPr>
        <p:spPr>
          <a:xfrm>
            <a:off x="457200" y="909484"/>
            <a:ext cx="3962400" cy="5791200"/>
          </a:xfrm>
          <a:prstGeom prst="rect">
            <a:avLst/>
          </a:prstGeom>
          <a:noFill/>
          <a:ln w="57150">
            <a:solidFill>
              <a:srgbClr val="3D0E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C5783-B418-10F7-8EBD-35B698ADFC04}"/>
              </a:ext>
            </a:extLst>
          </p:cNvPr>
          <p:cNvSpPr/>
          <p:nvPr/>
        </p:nvSpPr>
        <p:spPr>
          <a:xfrm>
            <a:off x="4839929" y="909484"/>
            <a:ext cx="3962400" cy="5791200"/>
          </a:xfrm>
          <a:prstGeom prst="rect">
            <a:avLst/>
          </a:prstGeom>
          <a:noFill/>
          <a:ln w="57150">
            <a:solidFill>
              <a:srgbClr val="3D0E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3A44D2-2A9F-CEF9-E7BC-5D0D72461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1078469"/>
            <a:ext cx="342900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PROBLEM STATEMENT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Potters losing business to plastic/steel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No digital marketing knowledge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People unaware of clay health benefits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DC3F4AD-6FB7-FFC8-AD29-7B92B80A1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0374" y="1219200"/>
            <a:ext cx="3726426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OBJECTIVE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sng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Help artisans digitally promote products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Generate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Benefit Story Cards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Enable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easy WhatsApp sharing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82C21B-48E8-DB32-61EA-5FFA715C6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90764" y="6345954"/>
            <a:ext cx="4867275" cy="365125"/>
          </a:xfrm>
        </p:spPr>
        <p:txBody>
          <a:bodyPr/>
          <a:lstStyle/>
          <a:p>
            <a:r>
              <a:rPr lang="en-US" dirty="0" err="1"/>
              <a:t>KumbaraKala</a:t>
            </a:r>
            <a:r>
              <a:rPr lang="en-US" dirty="0"/>
              <a:t> | Anushka Basak | 1JS22CS024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374E6B-3C25-69B0-B0BB-CA7B30B82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07752-18D4-EA21-D402-272817D33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PROJECT OVERVIEW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A8CCC3-5100-DD32-9214-54474DFD4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KumbaraKala | Anushka Basak | 1JS22CS024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1864A-AE0E-F90C-B775-C85DD3765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C1B88E8-E71B-CA68-432A-B68E67405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417638"/>
            <a:ext cx="77724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Developed an Android application named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KumbaraKala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to promote traditional clay products digitally.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Implemented dynamic product listing with Firebase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Firestore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integration.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Created personalized digital benefit cards for users.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Enabled WhatsApp and social media sharing of generated cards.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Designed an attractive gallery-style user interface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RecyclerView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CardView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Promoted eco-friendly and sustainable clay products through mobile technology. </a:t>
            </a:r>
          </a:p>
        </p:txBody>
      </p:sp>
    </p:spTree>
    <p:extLst>
      <p:ext uri="{BB962C8B-B14F-4D97-AF65-F5344CB8AC3E}">
        <p14:creationId xmlns:p14="http://schemas.microsoft.com/office/powerpoint/2010/main" val="2219359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57C0E-8D9E-D484-3750-C909D63FA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LEARNING OUTCOMES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65D381-3079-0E8F-A44B-37E2E7609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KumbaraKala | Anushka Basak | 1JS22CS024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1B7B2-3C1F-4601-B4B3-FACC0D493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EA0EC1C-4CFE-9B05-4F78-D244E0A5E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26" y="1166842"/>
            <a:ext cx="87630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Technical Skills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Hands-on experience in configuring AI Service Agents, generating intelligent AI responses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Skilled in Salesforce Playgrounds, flow-based automation, and cloud lab environments for developing, testing, and managing scalable cloud-based applications.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Learned Kotlin-based Android development, responsive UI/UX design using XML, Firebase </a:t>
            </a:r>
            <a:r>
              <a:rPr lang="en-IN" sz="1600" dirty="0" err="1">
                <a:solidFill>
                  <a:schemeClr val="bg1"/>
                </a:solidFill>
              </a:rPr>
              <a:t>Firestore</a:t>
            </a:r>
            <a:r>
              <a:rPr lang="en-IN" sz="1600" dirty="0">
                <a:solidFill>
                  <a:schemeClr val="bg1"/>
                </a:solidFill>
              </a:rPr>
              <a:t> integration, and image generation using Canvas API.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Enhanced debugging, testing, problem-solving, and real-time application development skills through practical project implementation.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Professional Skills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Developed strong communication, professionalism, responsibility, punctuality, and ethical conduct while working on assigned tasks and collaborating in an industry-oriented environment.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Maintained continuous learning and professional growth through self-review, documentation, and active LinkedIn profile enhancement.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Conceptual Understanding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</a:t>
            </a:r>
            <a:r>
              <a:rPr lang="en-US" sz="1600" dirty="0">
                <a:solidFill>
                  <a:schemeClr val="bg1"/>
                </a:solidFill>
              </a:rPr>
              <a:t>Acquired practical understanding of Android application development, Firebase cloud integration, and Generative AI-assisted software development workflows.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589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70492-37DD-0E70-4EDE-5C1F30F6C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68">
            <a:extLst>
              <a:ext uri="{FF2B5EF4-FFF2-40B4-BE49-F238E27FC236}">
                <a16:creationId xmlns:a16="http://schemas.microsoft.com/office/drawing/2014/main" id="{704D4376-7CD6-B108-2A95-92DE52E14945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23962" y="304800"/>
            <a:ext cx="6696075" cy="22860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hlink">
                        <a:gamma/>
                        <a:shade val="46275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latinLnBrk="1">
              <a:defRPr/>
            </a:pPr>
            <a:r>
              <a:rPr kumimoji="1" lang="en-US" altLang="ko-KR" sz="3600" b="1" dirty="0">
                <a:solidFill>
                  <a:schemeClr val="bg1"/>
                </a:solidFill>
                <a:ea typeface="굴림" pitchFamily="34" charset="-127"/>
              </a:rPr>
              <a:t>Technologies Used</a:t>
            </a: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4A3C5B06-06B6-4CBC-2461-E34BBAC9C0EB}"/>
              </a:ext>
            </a:extLst>
          </p:cNvPr>
          <p:cNvSpPr/>
          <p:nvPr/>
        </p:nvSpPr>
        <p:spPr>
          <a:xfrm>
            <a:off x="2838450" y="1208548"/>
            <a:ext cx="1066800" cy="12192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417215" y="251916"/>
                </a:moveTo>
                <a:cubicBezTo>
                  <a:pt x="425722" y="251916"/>
                  <a:pt x="433583" y="256455"/>
                  <a:pt x="437837" y="263823"/>
                </a:cubicBezTo>
                <a:cubicBezTo>
                  <a:pt x="442091" y="271190"/>
                  <a:pt x="442091" y="280268"/>
                  <a:pt x="437837" y="287635"/>
                </a:cubicBezTo>
                <a:cubicBezTo>
                  <a:pt x="433583" y="295003"/>
                  <a:pt x="425722" y="299541"/>
                  <a:pt x="417215" y="299541"/>
                </a:cubicBezTo>
                <a:cubicBezTo>
                  <a:pt x="404072" y="299541"/>
                  <a:pt x="393402" y="288871"/>
                  <a:pt x="393402" y="275729"/>
                </a:cubicBezTo>
                <a:cubicBezTo>
                  <a:pt x="393402" y="262586"/>
                  <a:pt x="404072" y="251916"/>
                  <a:pt x="417215" y="251916"/>
                </a:cubicBezTo>
                <a:close/>
                <a:moveTo>
                  <a:pt x="154186" y="251916"/>
                </a:moveTo>
                <a:cubicBezTo>
                  <a:pt x="162693" y="251916"/>
                  <a:pt x="170554" y="256455"/>
                  <a:pt x="174808" y="263823"/>
                </a:cubicBezTo>
                <a:cubicBezTo>
                  <a:pt x="179062" y="271190"/>
                  <a:pt x="179062" y="280268"/>
                  <a:pt x="174808" y="287635"/>
                </a:cubicBezTo>
                <a:cubicBezTo>
                  <a:pt x="170554" y="295003"/>
                  <a:pt x="162693" y="299541"/>
                  <a:pt x="154186" y="299541"/>
                </a:cubicBezTo>
                <a:cubicBezTo>
                  <a:pt x="141043" y="299541"/>
                  <a:pt x="130373" y="288871"/>
                  <a:pt x="130373" y="275729"/>
                </a:cubicBezTo>
                <a:cubicBezTo>
                  <a:pt x="130373" y="262586"/>
                  <a:pt x="141043" y="251916"/>
                  <a:pt x="154186" y="251916"/>
                </a:cubicBezTo>
                <a:close/>
                <a:moveTo>
                  <a:pt x="425748" y="156170"/>
                </a:moveTo>
                <a:lnTo>
                  <a:pt x="473273" y="73819"/>
                </a:lnTo>
                <a:cubicBezTo>
                  <a:pt x="474067" y="72727"/>
                  <a:pt x="474563" y="71438"/>
                  <a:pt x="474762" y="70048"/>
                </a:cubicBezTo>
                <a:cubicBezTo>
                  <a:pt x="474960" y="68659"/>
                  <a:pt x="474960" y="67370"/>
                  <a:pt x="474662" y="65980"/>
                </a:cubicBezTo>
                <a:cubicBezTo>
                  <a:pt x="474365" y="64591"/>
                  <a:pt x="473770" y="63401"/>
                  <a:pt x="472976" y="62309"/>
                </a:cubicBezTo>
                <a:cubicBezTo>
                  <a:pt x="472182" y="61218"/>
                  <a:pt x="471190" y="60325"/>
                  <a:pt x="469999" y="59630"/>
                </a:cubicBezTo>
                <a:cubicBezTo>
                  <a:pt x="468809" y="58936"/>
                  <a:pt x="467519" y="58539"/>
                  <a:pt x="466130" y="58341"/>
                </a:cubicBezTo>
                <a:cubicBezTo>
                  <a:pt x="464741" y="58142"/>
                  <a:pt x="463451" y="58341"/>
                  <a:pt x="462161" y="58738"/>
                </a:cubicBezTo>
                <a:cubicBezTo>
                  <a:pt x="460871" y="59134"/>
                  <a:pt x="459680" y="59829"/>
                  <a:pt x="458589" y="60623"/>
                </a:cubicBezTo>
                <a:cubicBezTo>
                  <a:pt x="457498" y="61416"/>
                  <a:pt x="456704" y="62607"/>
                  <a:pt x="456109" y="63798"/>
                </a:cubicBezTo>
                <a:lnTo>
                  <a:pt x="407987" y="147241"/>
                </a:lnTo>
                <a:cubicBezTo>
                  <a:pt x="369491" y="129977"/>
                  <a:pt x="327819" y="121047"/>
                  <a:pt x="285651" y="121047"/>
                </a:cubicBezTo>
                <a:cubicBezTo>
                  <a:pt x="243483" y="121047"/>
                  <a:pt x="201811" y="129977"/>
                  <a:pt x="163314" y="147241"/>
                </a:cubicBezTo>
                <a:lnTo>
                  <a:pt x="115292" y="63897"/>
                </a:lnTo>
                <a:cubicBezTo>
                  <a:pt x="114697" y="62706"/>
                  <a:pt x="113804" y="61615"/>
                  <a:pt x="112812" y="60722"/>
                </a:cubicBezTo>
                <a:cubicBezTo>
                  <a:pt x="111820" y="59829"/>
                  <a:pt x="110530" y="59234"/>
                  <a:pt x="109240" y="58837"/>
                </a:cubicBezTo>
                <a:cubicBezTo>
                  <a:pt x="107950" y="58440"/>
                  <a:pt x="106561" y="58341"/>
                  <a:pt x="105271" y="58440"/>
                </a:cubicBezTo>
                <a:cubicBezTo>
                  <a:pt x="103981" y="58539"/>
                  <a:pt x="102592" y="59035"/>
                  <a:pt x="101402" y="59730"/>
                </a:cubicBezTo>
                <a:cubicBezTo>
                  <a:pt x="100211" y="60424"/>
                  <a:pt x="99219" y="61317"/>
                  <a:pt x="98425" y="62409"/>
                </a:cubicBezTo>
                <a:cubicBezTo>
                  <a:pt x="97631" y="63500"/>
                  <a:pt x="97036" y="64790"/>
                  <a:pt x="96738" y="66080"/>
                </a:cubicBezTo>
                <a:cubicBezTo>
                  <a:pt x="96441" y="67370"/>
                  <a:pt x="96441" y="68759"/>
                  <a:pt x="96639" y="70148"/>
                </a:cubicBezTo>
                <a:cubicBezTo>
                  <a:pt x="96838" y="71537"/>
                  <a:pt x="97433" y="72727"/>
                  <a:pt x="98127" y="73918"/>
                </a:cubicBezTo>
                <a:lnTo>
                  <a:pt x="145653" y="156270"/>
                </a:lnTo>
                <a:cubicBezTo>
                  <a:pt x="63996" y="200620"/>
                  <a:pt x="8136" y="283270"/>
                  <a:pt x="0" y="381000"/>
                </a:cubicBezTo>
                <a:lnTo>
                  <a:pt x="571500" y="381000"/>
                </a:lnTo>
                <a:cubicBezTo>
                  <a:pt x="563364" y="283270"/>
                  <a:pt x="507504" y="200620"/>
                  <a:pt x="425748" y="156170"/>
                </a:cubicBezTo>
                <a:close/>
              </a:path>
            </a:pathLst>
          </a:custGeom>
          <a:solidFill>
            <a:srgbClr val="6B4EFF"/>
          </a:solidFill>
          <a:ln/>
        </p:spPr>
      </p:sp>
      <p:sp>
        <p:nvSpPr>
          <p:cNvPr id="9" name="Shape 15">
            <a:extLst>
              <a:ext uri="{FF2B5EF4-FFF2-40B4-BE49-F238E27FC236}">
                <a16:creationId xmlns:a16="http://schemas.microsoft.com/office/drawing/2014/main" id="{FBDDDB13-0D10-3544-68F5-1F81F2F06B67}"/>
              </a:ext>
            </a:extLst>
          </p:cNvPr>
          <p:cNvSpPr/>
          <p:nvPr/>
        </p:nvSpPr>
        <p:spPr>
          <a:xfrm>
            <a:off x="5238752" y="1437148"/>
            <a:ext cx="702597" cy="762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444500" y="204192"/>
                </a:moveTo>
                <a:cubicBezTo>
                  <a:pt x="429816" y="213916"/>
                  <a:pt x="412948" y="221754"/>
                  <a:pt x="395387" y="228005"/>
                </a:cubicBezTo>
                <a:cubicBezTo>
                  <a:pt x="348754" y="244673"/>
                  <a:pt x="287536" y="254000"/>
                  <a:pt x="222250" y="254000"/>
                </a:cubicBezTo>
                <a:cubicBezTo>
                  <a:pt x="156964" y="254000"/>
                  <a:pt x="95647" y="244574"/>
                  <a:pt x="49113" y="228005"/>
                </a:cubicBezTo>
                <a:cubicBezTo>
                  <a:pt x="31651" y="221754"/>
                  <a:pt x="14684" y="213916"/>
                  <a:pt x="0" y="204192"/>
                </a:cubicBezTo>
                <a:lnTo>
                  <a:pt x="0" y="285750"/>
                </a:lnTo>
                <a:cubicBezTo>
                  <a:pt x="0" y="329605"/>
                  <a:pt x="99516" y="365125"/>
                  <a:pt x="222250" y="365125"/>
                </a:cubicBezTo>
                <a:cubicBezTo>
                  <a:pt x="344984" y="365125"/>
                  <a:pt x="444500" y="329605"/>
                  <a:pt x="444500" y="285750"/>
                </a:cubicBezTo>
                <a:lnTo>
                  <a:pt x="444500" y="204192"/>
                </a:lnTo>
                <a:close/>
                <a:moveTo>
                  <a:pt x="444500" y="127000"/>
                </a:moveTo>
                <a:lnTo>
                  <a:pt x="444500" y="79375"/>
                </a:lnTo>
                <a:cubicBezTo>
                  <a:pt x="444500" y="35520"/>
                  <a:pt x="344984" y="0"/>
                  <a:pt x="222250" y="0"/>
                </a:cubicBezTo>
                <a:cubicBezTo>
                  <a:pt x="99516" y="0"/>
                  <a:pt x="0" y="35520"/>
                  <a:pt x="0" y="79375"/>
                </a:cubicBezTo>
                <a:lnTo>
                  <a:pt x="0" y="127000"/>
                </a:lnTo>
                <a:cubicBezTo>
                  <a:pt x="0" y="170855"/>
                  <a:pt x="99516" y="206375"/>
                  <a:pt x="222250" y="206375"/>
                </a:cubicBezTo>
                <a:cubicBezTo>
                  <a:pt x="344984" y="206375"/>
                  <a:pt x="444500" y="170855"/>
                  <a:pt x="444500" y="127000"/>
                </a:cubicBezTo>
                <a:close/>
                <a:moveTo>
                  <a:pt x="395387" y="386755"/>
                </a:moveTo>
                <a:cubicBezTo>
                  <a:pt x="348853" y="403324"/>
                  <a:pt x="287635" y="412750"/>
                  <a:pt x="222250" y="412750"/>
                </a:cubicBezTo>
                <a:cubicBezTo>
                  <a:pt x="156865" y="412750"/>
                  <a:pt x="95647" y="403324"/>
                  <a:pt x="49113" y="386755"/>
                </a:cubicBezTo>
                <a:cubicBezTo>
                  <a:pt x="31651" y="380504"/>
                  <a:pt x="14684" y="372666"/>
                  <a:pt x="0" y="362942"/>
                </a:cubicBezTo>
                <a:lnTo>
                  <a:pt x="0" y="428625"/>
                </a:lnTo>
                <a:cubicBezTo>
                  <a:pt x="0" y="472480"/>
                  <a:pt x="99516" y="508000"/>
                  <a:pt x="222250" y="508000"/>
                </a:cubicBezTo>
                <a:cubicBezTo>
                  <a:pt x="344984" y="508000"/>
                  <a:pt x="444500" y="472480"/>
                  <a:pt x="444500" y="428625"/>
                </a:cubicBezTo>
                <a:lnTo>
                  <a:pt x="444500" y="362942"/>
                </a:lnTo>
                <a:cubicBezTo>
                  <a:pt x="429816" y="372666"/>
                  <a:pt x="412948" y="380504"/>
                  <a:pt x="395387" y="386755"/>
                </a:cubicBezTo>
                <a:close/>
              </a:path>
            </a:pathLst>
          </a:custGeom>
          <a:solidFill>
            <a:srgbClr val="FFD60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Shape 23">
            <a:extLst>
              <a:ext uri="{FF2B5EF4-FFF2-40B4-BE49-F238E27FC236}">
                <a16:creationId xmlns:a16="http://schemas.microsoft.com/office/drawing/2014/main" id="{B178A91E-B4B5-A4B0-5E5E-F6AA752F7A99}"/>
              </a:ext>
            </a:extLst>
          </p:cNvPr>
          <p:cNvSpPr/>
          <p:nvPr/>
        </p:nvSpPr>
        <p:spPr>
          <a:xfrm>
            <a:off x="1387885" y="3515852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0" y="254000"/>
                </a:moveTo>
                <a:cubicBezTo>
                  <a:pt x="508000" y="254893"/>
                  <a:pt x="508000" y="255786"/>
                  <a:pt x="508000" y="256679"/>
                </a:cubicBezTo>
                <a:cubicBezTo>
                  <a:pt x="507603" y="292894"/>
                  <a:pt x="474663" y="317500"/>
                  <a:pt x="438448" y="317500"/>
                </a:cubicBezTo>
                <a:lnTo>
                  <a:pt x="341313" y="317500"/>
                </a:lnTo>
                <a:cubicBezTo>
                  <a:pt x="315020" y="317500"/>
                  <a:pt x="293688" y="338832"/>
                  <a:pt x="293688" y="365125"/>
                </a:cubicBezTo>
                <a:cubicBezTo>
                  <a:pt x="293688" y="368498"/>
                  <a:pt x="294084" y="371773"/>
                  <a:pt x="294680" y="374948"/>
                </a:cubicBezTo>
                <a:cubicBezTo>
                  <a:pt x="296763" y="385068"/>
                  <a:pt x="301129" y="394791"/>
                  <a:pt x="305395" y="404614"/>
                </a:cubicBezTo>
                <a:cubicBezTo>
                  <a:pt x="311448" y="418306"/>
                  <a:pt x="317401" y="431899"/>
                  <a:pt x="317401" y="446286"/>
                </a:cubicBezTo>
                <a:cubicBezTo>
                  <a:pt x="317401" y="477838"/>
                  <a:pt x="295970" y="506512"/>
                  <a:pt x="264418" y="507802"/>
                </a:cubicBezTo>
                <a:cubicBezTo>
                  <a:pt x="260945" y="507901"/>
                  <a:pt x="257473" y="508000"/>
                  <a:pt x="253901" y="508000"/>
                </a:cubicBezTo>
                <a:cubicBezTo>
                  <a:pt x="113605" y="508000"/>
                  <a:pt x="-99" y="394295"/>
                  <a:pt x="-99" y="254000"/>
                </a:cubicBezTo>
                <a:cubicBezTo>
                  <a:pt x="-99" y="113705"/>
                  <a:pt x="113705" y="0"/>
                  <a:pt x="254000" y="0"/>
                </a:cubicBezTo>
                <a:cubicBezTo>
                  <a:pt x="394295" y="0"/>
                  <a:pt x="508000" y="113705"/>
                  <a:pt x="508000" y="254000"/>
                </a:cubicBezTo>
                <a:close/>
                <a:moveTo>
                  <a:pt x="127000" y="285750"/>
                </a:moveTo>
                <a:cubicBezTo>
                  <a:pt x="127000" y="268227"/>
                  <a:pt x="112773" y="254000"/>
                  <a:pt x="95250" y="254000"/>
                </a:cubicBezTo>
                <a:cubicBezTo>
                  <a:pt x="77727" y="254000"/>
                  <a:pt x="63500" y="268227"/>
                  <a:pt x="63500" y="285750"/>
                </a:cubicBezTo>
                <a:cubicBezTo>
                  <a:pt x="63500" y="303273"/>
                  <a:pt x="77727" y="317500"/>
                  <a:pt x="95250" y="317500"/>
                </a:cubicBezTo>
                <a:cubicBezTo>
                  <a:pt x="112773" y="317500"/>
                  <a:pt x="127000" y="303273"/>
                  <a:pt x="127000" y="285750"/>
                </a:cubicBezTo>
                <a:close/>
                <a:moveTo>
                  <a:pt x="127000" y="190500"/>
                </a:moveTo>
                <a:cubicBezTo>
                  <a:pt x="144523" y="190500"/>
                  <a:pt x="158750" y="176273"/>
                  <a:pt x="158750" y="158750"/>
                </a:cubicBezTo>
                <a:cubicBezTo>
                  <a:pt x="158750" y="141227"/>
                  <a:pt x="144523" y="127000"/>
                  <a:pt x="127000" y="127000"/>
                </a:cubicBezTo>
                <a:cubicBezTo>
                  <a:pt x="109477" y="127000"/>
                  <a:pt x="95250" y="141227"/>
                  <a:pt x="95250" y="158750"/>
                </a:cubicBezTo>
                <a:cubicBezTo>
                  <a:pt x="95250" y="176273"/>
                  <a:pt x="109477" y="190500"/>
                  <a:pt x="127000" y="190500"/>
                </a:cubicBezTo>
                <a:close/>
                <a:moveTo>
                  <a:pt x="285750" y="95250"/>
                </a:moveTo>
                <a:cubicBezTo>
                  <a:pt x="285750" y="77727"/>
                  <a:pt x="271523" y="63500"/>
                  <a:pt x="254000" y="63500"/>
                </a:cubicBezTo>
                <a:cubicBezTo>
                  <a:pt x="236477" y="63500"/>
                  <a:pt x="222250" y="77727"/>
                  <a:pt x="222250" y="95250"/>
                </a:cubicBezTo>
                <a:cubicBezTo>
                  <a:pt x="222250" y="112773"/>
                  <a:pt x="236477" y="127000"/>
                  <a:pt x="254000" y="127000"/>
                </a:cubicBezTo>
                <a:cubicBezTo>
                  <a:pt x="271523" y="127000"/>
                  <a:pt x="285750" y="112773"/>
                  <a:pt x="285750" y="95250"/>
                </a:cubicBezTo>
                <a:close/>
                <a:moveTo>
                  <a:pt x="381000" y="190500"/>
                </a:moveTo>
                <a:cubicBezTo>
                  <a:pt x="398523" y="190500"/>
                  <a:pt x="412750" y="176273"/>
                  <a:pt x="412750" y="158750"/>
                </a:cubicBezTo>
                <a:cubicBezTo>
                  <a:pt x="412750" y="141227"/>
                  <a:pt x="398523" y="127000"/>
                  <a:pt x="381000" y="127000"/>
                </a:cubicBezTo>
                <a:cubicBezTo>
                  <a:pt x="363477" y="127000"/>
                  <a:pt x="349250" y="141227"/>
                  <a:pt x="349250" y="158750"/>
                </a:cubicBezTo>
                <a:cubicBezTo>
                  <a:pt x="349250" y="176273"/>
                  <a:pt x="363477" y="190500"/>
                  <a:pt x="381000" y="190500"/>
                </a:cubicBezTo>
                <a:close/>
              </a:path>
            </a:pathLst>
          </a:custGeom>
          <a:solidFill>
            <a:srgbClr val="6B4E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Shape 27">
            <a:extLst>
              <a:ext uri="{FF2B5EF4-FFF2-40B4-BE49-F238E27FC236}">
                <a16:creationId xmlns:a16="http://schemas.microsoft.com/office/drawing/2014/main" id="{7A4FC898-D803-2DEE-8C2A-97E81D78CE33}"/>
              </a:ext>
            </a:extLst>
          </p:cNvPr>
          <p:cNvSpPr/>
          <p:nvPr/>
        </p:nvSpPr>
        <p:spPr>
          <a:xfrm>
            <a:off x="4173281" y="3489575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57981" y="1191"/>
                </a:moveTo>
                <a:cubicBezTo>
                  <a:pt x="341114" y="-3671"/>
                  <a:pt x="323552" y="6152"/>
                  <a:pt x="318691" y="23019"/>
                </a:cubicBezTo>
                <a:lnTo>
                  <a:pt x="191691" y="467519"/>
                </a:lnTo>
                <a:cubicBezTo>
                  <a:pt x="186829" y="484386"/>
                  <a:pt x="196652" y="501948"/>
                  <a:pt x="213519" y="506809"/>
                </a:cubicBezTo>
                <a:cubicBezTo>
                  <a:pt x="230386" y="511671"/>
                  <a:pt x="247948" y="501848"/>
                  <a:pt x="252809" y="484981"/>
                </a:cubicBezTo>
                <a:lnTo>
                  <a:pt x="379809" y="40481"/>
                </a:lnTo>
                <a:cubicBezTo>
                  <a:pt x="384671" y="23614"/>
                  <a:pt x="374848" y="6052"/>
                  <a:pt x="357981" y="1191"/>
                </a:cubicBezTo>
                <a:close/>
                <a:moveTo>
                  <a:pt x="422077" y="136227"/>
                </a:moveTo>
                <a:cubicBezTo>
                  <a:pt x="409674" y="148630"/>
                  <a:pt x="409674" y="168771"/>
                  <a:pt x="422077" y="181173"/>
                </a:cubicBezTo>
                <a:lnTo>
                  <a:pt x="494903" y="254000"/>
                </a:lnTo>
                <a:lnTo>
                  <a:pt x="422077" y="326827"/>
                </a:lnTo>
                <a:cubicBezTo>
                  <a:pt x="409674" y="339229"/>
                  <a:pt x="409674" y="359370"/>
                  <a:pt x="422077" y="371773"/>
                </a:cubicBezTo>
                <a:cubicBezTo>
                  <a:pt x="434479" y="384175"/>
                  <a:pt x="454620" y="384175"/>
                  <a:pt x="467023" y="371773"/>
                </a:cubicBezTo>
                <a:lnTo>
                  <a:pt x="562273" y="276523"/>
                </a:lnTo>
                <a:cubicBezTo>
                  <a:pt x="574675" y="264120"/>
                  <a:pt x="574675" y="243979"/>
                  <a:pt x="562273" y="231577"/>
                </a:cubicBezTo>
                <a:lnTo>
                  <a:pt x="467023" y="136327"/>
                </a:lnTo>
                <a:cubicBezTo>
                  <a:pt x="454620" y="123924"/>
                  <a:pt x="434479" y="123924"/>
                  <a:pt x="422077" y="136327"/>
                </a:cubicBezTo>
                <a:close/>
                <a:moveTo>
                  <a:pt x="149523" y="136227"/>
                </a:moveTo>
                <a:cubicBezTo>
                  <a:pt x="137120" y="123825"/>
                  <a:pt x="116979" y="123825"/>
                  <a:pt x="104577" y="136227"/>
                </a:cubicBezTo>
                <a:lnTo>
                  <a:pt x="9327" y="231477"/>
                </a:lnTo>
                <a:cubicBezTo>
                  <a:pt x="-3076" y="243880"/>
                  <a:pt x="-3076" y="264021"/>
                  <a:pt x="9327" y="276423"/>
                </a:cubicBezTo>
                <a:lnTo>
                  <a:pt x="104577" y="371673"/>
                </a:lnTo>
                <a:cubicBezTo>
                  <a:pt x="116979" y="384076"/>
                  <a:pt x="137120" y="384076"/>
                  <a:pt x="149523" y="371673"/>
                </a:cubicBezTo>
                <a:cubicBezTo>
                  <a:pt x="161925" y="359271"/>
                  <a:pt x="161925" y="339130"/>
                  <a:pt x="149523" y="326727"/>
                </a:cubicBezTo>
                <a:lnTo>
                  <a:pt x="76696" y="254000"/>
                </a:lnTo>
                <a:lnTo>
                  <a:pt x="149423" y="181173"/>
                </a:lnTo>
                <a:cubicBezTo>
                  <a:pt x="161826" y="168771"/>
                  <a:pt x="161826" y="148630"/>
                  <a:pt x="149423" y="136227"/>
                </a:cubicBezTo>
                <a:close/>
              </a:path>
            </a:pathLst>
          </a:custGeom>
          <a:solidFill>
            <a:srgbClr val="00BFA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A32F8B-1EBC-A329-F353-13662034380C}"/>
              </a:ext>
            </a:extLst>
          </p:cNvPr>
          <p:cNvSpPr txBox="1"/>
          <p:nvPr/>
        </p:nvSpPr>
        <p:spPr>
          <a:xfrm>
            <a:off x="1952625" y="2242000"/>
            <a:ext cx="28384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Kotlin</a:t>
            </a:r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604499-D6D2-4D55-1B6D-4E258F17F1E5}"/>
              </a:ext>
            </a:extLst>
          </p:cNvPr>
          <p:cNvSpPr txBox="1"/>
          <p:nvPr/>
        </p:nvSpPr>
        <p:spPr>
          <a:xfrm>
            <a:off x="533400" y="4469853"/>
            <a:ext cx="28384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</a:rPr>
              <a:t>Material Design 3</a:t>
            </a:r>
            <a:endParaRPr 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061C2F-4F1E-68C8-449D-32E948BADD8D}"/>
              </a:ext>
            </a:extLst>
          </p:cNvPr>
          <p:cNvSpPr txBox="1"/>
          <p:nvPr/>
        </p:nvSpPr>
        <p:spPr>
          <a:xfrm>
            <a:off x="4257675" y="2249647"/>
            <a:ext cx="28384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</a:rPr>
              <a:t>Cloud </a:t>
            </a:r>
            <a:r>
              <a:rPr lang="en-US" sz="1200" b="1" dirty="0" err="1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</a:rPr>
              <a:t>Firestore</a:t>
            </a:r>
            <a:endParaRPr 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9E9090-B67B-9C4D-A41C-E53A02B98968}"/>
              </a:ext>
            </a:extLst>
          </p:cNvPr>
          <p:cNvSpPr txBox="1"/>
          <p:nvPr/>
        </p:nvSpPr>
        <p:spPr>
          <a:xfrm>
            <a:off x="3152774" y="4469853"/>
            <a:ext cx="28384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chemeClr val="bg1"/>
                </a:solidFill>
              </a:rPr>
              <a:t>Android Studio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F7C59A-BEFF-276F-1C1C-D3879EB5241A}"/>
              </a:ext>
            </a:extLst>
          </p:cNvPr>
          <p:cNvSpPr txBox="1"/>
          <p:nvPr/>
        </p:nvSpPr>
        <p:spPr>
          <a:xfrm>
            <a:off x="6139323" y="4469853"/>
            <a:ext cx="28384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chemeClr val="bg1"/>
                </a:solidFill>
              </a:rPr>
              <a:t>Android Canvas API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833861-9B1D-D96A-741A-C337A692D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0011" y="3599698"/>
            <a:ext cx="838200" cy="83820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40347-A606-CB8E-1F5C-0C0F2D6BA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1" y="6401072"/>
            <a:ext cx="4343400" cy="365125"/>
          </a:xfrm>
        </p:spPr>
        <p:txBody>
          <a:bodyPr/>
          <a:lstStyle/>
          <a:p>
            <a:r>
              <a:rPr lang="en-US" dirty="0" err="1"/>
              <a:t>KumbaraKala</a:t>
            </a:r>
            <a:r>
              <a:rPr lang="en-US" dirty="0"/>
              <a:t> | Anushka Basak | 1JS22CS024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763B7A8-6859-8E69-7B88-7ED68D24C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7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2CABE60-8D1B-3E5A-45FB-B307491C2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KumbaraKala | Anushka Basak | 1JS22CS024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A8DB5B-8AE0-90E5-D6EB-FC2280677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F37E10A-275B-1744-7BC2-02B425541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502" y="227112"/>
            <a:ext cx="7056996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4000" b="1" dirty="0">
                <a:solidFill>
                  <a:schemeClr val="bg1"/>
                </a:solidFill>
                <a:ea typeface="굴림" pitchFamily="34" charset="-127"/>
              </a:rPr>
              <a:t>Technologies Used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Kotlin – Android application development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Android Studio – Development environment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XML – User interface design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Firebase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Firestore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Cloud backend database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RecyclerView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CardView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Dynamic product display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Canvas API &amp;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FileProvider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Image generation and sharing </a:t>
            </a:r>
          </a:p>
        </p:txBody>
      </p:sp>
    </p:spTree>
    <p:extLst>
      <p:ext uri="{BB962C8B-B14F-4D97-AF65-F5344CB8AC3E}">
        <p14:creationId xmlns:p14="http://schemas.microsoft.com/office/powerpoint/2010/main" val="1381726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2C709-5D1D-E7C6-C517-933F226EF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68">
            <a:extLst>
              <a:ext uri="{FF2B5EF4-FFF2-40B4-BE49-F238E27FC236}">
                <a16:creationId xmlns:a16="http://schemas.microsoft.com/office/drawing/2014/main" id="{745B045E-071A-B8E1-4CA5-DC216ED5EC7C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23962" y="304800"/>
            <a:ext cx="6696075" cy="22860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hlink">
                        <a:gamma/>
                        <a:shade val="46275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latinLnBrk="1">
              <a:defRPr/>
            </a:pPr>
            <a:r>
              <a:rPr kumimoji="1" lang="en-US" altLang="ko-KR" sz="3600" b="1" dirty="0">
                <a:solidFill>
                  <a:schemeClr val="bg1"/>
                </a:solidFill>
                <a:ea typeface="굴림" pitchFamily="34" charset="-127"/>
              </a:rPr>
              <a:t>Architecture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505ED86-61D0-5780-6F9B-07DE2566A975}"/>
              </a:ext>
            </a:extLst>
          </p:cNvPr>
          <p:cNvSpPr/>
          <p:nvPr/>
        </p:nvSpPr>
        <p:spPr>
          <a:xfrm>
            <a:off x="304800" y="1435510"/>
            <a:ext cx="2133600" cy="1295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455DF48-37BD-B0E1-FCFF-11E812E2F72A}"/>
              </a:ext>
            </a:extLst>
          </p:cNvPr>
          <p:cNvSpPr/>
          <p:nvPr/>
        </p:nvSpPr>
        <p:spPr>
          <a:xfrm>
            <a:off x="3276600" y="1435510"/>
            <a:ext cx="2133600" cy="1295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D87E200-65C6-75EC-C9F6-788239B80FD9}"/>
              </a:ext>
            </a:extLst>
          </p:cNvPr>
          <p:cNvSpPr/>
          <p:nvPr/>
        </p:nvSpPr>
        <p:spPr>
          <a:xfrm>
            <a:off x="3962400" y="3810000"/>
            <a:ext cx="2133600" cy="1295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Artisan Profile Module</a:t>
            </a:r>
          </a:p>
          <a:p>
            <a:pPr algn="ctr"/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👤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FE5ECCA-9501-5B77-25F9-A7586EFB2E1E}"/>
              </a:ext>
            </a:extLst>
          </p:cNvPr>
          <p:cNvSpPr/>
          <p:nvPr/>
        </p:nvSpPr>
        <p:spPr>
          <a:xfrm>
            <a:off x="6853237" y="3817374"/>
            <a:ext cx="2133600" cy="1295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Share Module</a:t>
            </a:r>
          </a:p>
          <a:p>
            <a:pPr algn="ctr"/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📤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5D5188-F669-AD53-2ED2-C8AE9C05E019}"/>
              </a:ext>
            </a:extLst>
          </p:cNvPr>
          <p:cNvSpPr txBox="1"/>
          <p:nvPr/>
        </p:nvSpPr>
        <p:spPr>
          <a:xfrm>
            <a:off x="495300" y="1848533"/>
            <a:ext cx="1752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 err="1">
                <a:solidFill>
                  <a:schemeClr val="bg1"/>
                </a:solidFill>
              </a:rPr>
              <a:t>Catalog</a:t>
            </a:r>
            <a:r>
              <a:rPr lang="en-IN" dirty="0">
                <a:solidFill>
                  <a:schemeClr val="bg1"/>
                </a:solidFill>
              </a:rPr>
              <a:t> Module</a:t>
            </a:r>
            <a:r>
              <a:rPr lang="en-US" altLang="en-US" dirty="0">
                <a:latin typeface="Arial" panose="020B0604020202020204" pitchFamily="34" charset="0"/>
              </a:rPr>
              <a:t> 📸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7C62C1-56B6-6EA4-4D29-582D019AAD93}"/>
              </a:ext>
            </a:extLst>
          </p:cNvPr>
          <p:cNvSpPr txBox="1"/>
          <p:nvPr/>
        </p:nvSpPr>
        <p:spPr>
          <a:xfrm>
            <a:off x="3467100" y="1694646"/>
            <a:ext cx="1752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Story Generator Module</a:t>
            </a:r>
          </a:p>
          <a:p>
            <a:pPr algn="ctr"/>
            <a:r>
              <a:rPr lang="en-US" altLang="en-US" dirty="0">
                <a:latin typeface="Arial" panose="020B0604020202020204" pitchFamily="34" charset="0"/>
              </a:rPr>
              <a:t>🎨</a:t>
            </a:r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EE52D57-0F9E-E3F9-295E-5701DD8F5A69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2438400" y="2083210"/>
            <a:ext cx="838200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6988FE3-2959-D91C-86D3-06CFCC12E470}"/>
              </a:ext>
            </a:extLst>
          </p:cNvPr>
          <p:cNvCxnSpPr/>
          <p:nvPr/>
        </p:nvCxnSpPr>
        <p:spPr>
          <a:xfrm>
            <a:off x="4724400" y="2730910"/>
            <a:ext cx="0" cy="1079090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786AFE0-9EBE-2DB1-7604-EA6603530DAD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6096000" y="4457700"/>
            <a:ext cx="757237" cy="7374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FD44FC-5797-CE87-E0CB-47FA7994F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6985" y="6356350"/>
            <a:ext cx="4191000" cy="365125"/>
          </a:xfrm>
        </p:spPr>
        <p:txBody>
          <a:bodyPr/>
          <a:lstStyle/>
          <a:p>
            <a:r>
              <a:rPr lang="en-US" dirty="0" err="1"/>
              <a:t>KumbaraKala</a:t>
            </a:r>
            <a:r>
              <a:rPr lang="en-US" dirty="0"/>
              <a:t> | Anushka Basak | 1JS22CS024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6A6421-A522-A3FA-2618-6F19222F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306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2362200" y="838200"/>
            <a:ext cx="6553200" cy="715963"/>
          </a:xfrm>
        </p:spPr>
        <p:txBody>
          <a:bodyPr/>
          <a:lstStyle/>
          <a:p>
            <a:pPr algn="l"/>
            <a:r>
              <a:rPr lang="en-IN" sz="3600" b="1" dirty="0"/>
              <a:t>Core Features</a:t>
            </a:r>
            <a:endParaRPr lang="en-US" sz="3600" b="1" dirty="0">
              <a:solidFill>
                <a:srgbClr val="4D4D4D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A09AB64-7089-D698-3633-6392D0169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038548"/>
            <a:ext cx="6019800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📸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Catalog → clay products (pots, lamps)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🎨 Story Generator → creates benefit card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👤 Artisan Bio → maker story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📤 WhatsApp Share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3736A-E145-5AD9-5065-28DF2AFCF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4343400" cy="365125"/>
          </a:xfrm>
        </p:spPr>
        <p:txBody>
          <a:bodyPr/>
          <a:lstStyle/>
          <a:p>
            <a:r>
              <a:rPr lang="en-US" dirty="0" err="1"/>
              <a:t>KumbaraKala</a:t>
            </a:r>
            <a:r>
              <a:rPr lang="en-US" dirty="0"/>
              <a:t> | Anushka Basak | 1JS22CS024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BEE21-BA15-E846-B46B-9EF29689D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737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BACB9C-D2A5-EE19-2472-0F39838E1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8976E1A-0B65-CD68-F689-3681071E50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60639" y="537556"/>
            <a:ext cx="6553200" cy="715963"/>
          </a:xfrm>
        </p:spPr>
        <p:txBody>
          <a:bodyPr/>
          <a:lstStyle/>
          <a:p>
            <a:pPr algn="l"/>
            <a:r>
              <a:rPr lang="en-IN" sz="3600" b="1" dirty="0"/>
              <a:t>Firebase Usage</a:t>
            </a:r>
            <a:endParaRPr lang="en-US" sz="3600" b="1" dirty="0">
              <a:solidFill>
                <a:srgbClr val="4D4D4D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8D58446-FF53-4C62-7FD5-89F665134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807" y="1447800"/>
            <a:ext cx="64008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Artisan Details:</a:t>
            </a:r>
            <a:r>
              <a:rPr lang="en-US" altLang="en-US" dirty="0">
                <a:latin typeface="Arial" panose="020B0604020202020204" pitchFamily="34" charset="0"/>
              </a:rPr>
              <a:t> Stores the potter’s profile including name, contact, and heritage information.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Generated Cards:</a:t>
            </a:r>
            <a:r>
              <a:rPr lang="en-US" altLang="en-US" dirty="0">
                <a:latin typeface="Arial" panose="020B0604020202020204" pitchFamily="34" charset="0"/>
              </a:rPr>
              <a:t> Displays digitally created product story cards with benefits for sharing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819B781-1EB3-2084-FE27-1374D35572D9}"/>
              </a:ext>
            </a:extLst>
          </p:cNvPr>
          <p:cNvSpPr txBox="1">
            <a:spLocks noChangeArrowheads="1"/>
          </p:cNvSpPr>
          <p:nvPr/>
        </p:nvSpPr>
        <p:spPr>
          <a:xfrm>
            <a:off x="2172929" y="3657600"/>
            <a:ext cx="6553200" cy="715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/>
              <a:t>Story Card Generation Flow</a:t>
            </a:r>
            <a:endParaRPr lang="en-US" sz="3200" b="1" dirty="0">
              <a:solidFill>
                <a:srgbClr val="4D4D4D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0471DA-035B-A5D2-5B53-6A6E5BC7F4C1}"/>
              </a:ext>
            </a:extLst>
          </p:cNvPr>
          <p:cNvSpPr txBox="1"/>
          <p:nvPr/>
        </p:nvSpPr>
        <p:spPr>
          <a:xfrm>
            <a:off x="2286000" y="4191000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product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benefit text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Overlay text on image (Canvas)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Export image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Share via WhatsApp 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331A3CD-93DA-D93A-778C-8680472B4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03091" y="6390558"/>
            <a:ext cx="4343400" cy="365125"/>
          </a:xfrm>
        </p:spPr>
        <p:txBody>
          <a:bodyPr/>
          <a:lstStyle/>
          <a:p>
            <a:r>
              <a:rPr lang="en-US" dirty="0" err="1"/>
              <a:t>KumbaraKala</a:t>
            </a:r>
            <a:r>
              <a:rPr lang="en-US" dirty="0"/>
              <a:t> | Anushka Basak | 1JS22CS024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E58F7C9-FE66-EC3B-650E-9D0F49B05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577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8ACFF-FB7D-86C3-363E-38CFFE48B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bg1"/>
                </a:solidFill>
              </a:rPr>
              <a:t>Application Screenshots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0AB926-DFD3-661A-D472-CD8F50F89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64" y="1447799"/>
            <a:ext cx="2266335" cy="50614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C8C2AF-7F45-5CD1-BFD7-5F6553B0C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1433051"/>
            <a:ext cx="2265013" cy="50614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D4CC32A-5724-9B67-32F8-0F5737E761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1433051"/>
            <a:ext cx="2265013" cy="5061481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38188-90CE-71A4-D245-22C513E25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8400" y="6468090"/>
            <a:ext cx="4267200" cy="365125"/>
          </a:xfrm>
        </p:spPr>
        <p:txBody>
          <a:bodyPr/>
          <a:lstStyle/>
          <a:p>
            <a:r>
              <a:rPr lang="en-US" dirty="0" err="1"/>
              <a:t>KumbaraKala</a:t>
            </a:r>
            <a:r>
              <a:rPr lang="en-US" dirty="0"/>
              <a:t> | Anushka Basak | 1JS22CS024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0BEC6-C274-30CC-FD50-2DEBACF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858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E2625-04D0-D34C-054C-65299337C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BB2E0-1E3B-4F68-394E-002BFDA97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bg1"/>
                </a:solidFill>
              </a:rPr>
              <a:t>Application Screenshots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ECB85A-3580-A170-5CE5-1F9B9760A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33051"/>
            <a:ext cx="2318766" cy="51215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4AD10A-F71E-BEF3-832C-FFF0BE6FC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1433050"/>
            <a:ext cx="2291889" cy="51215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1454B6-4DA0-7001-BB0A-1ECC8D897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036" y="1418664"/>
            <a:ext cx="2304764" cy="5150312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627EF-DA4F-31BB-6C40-0213160CC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462663"/>
            <a:ext cx="4419600" cy="365125"/>
          </a:xfrm>
        </p:spPr>
        <p:txBody>
          <a:bodyPr/>
          <a:lstStyle/>
          <a:p>
            <a:r>
              <a:rPr lang="en-US" dirty="0" err="1"/>
              <a:t>KumbaraKala</a:t>
            </a:r>
            <a:r>
              <a:rPr lang="en-US" dirty="0"/>
              <a:t> | Anushka Basak | 1JS22CS024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8A6DD4-6A07-12F2-3B4F-7E0646EE1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652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E58A7D-C66E-44D1-4F57-3E213E863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429436" cy="4329404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30794-8221-633E-3606-E8FA81CD0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1303" y="6356350"/>
            <a:ext cx="3962400" cy="365125"/>
          </a:xfrm>
        </p:spPr>
        <p:txBody>
          <a:bodyPr/>
          <a:lstStyle/>
          <a:p>
            <a:r>
              <a:rPr lang="en-US" dirty="0" err="1"/>
              <a:t>KumbaraKala</a:t>
            </a:r>
            <a:r>
              <a:rPr lang="en-US" dirty="0"/>
              <a:t> | Anushka Basak | 1JS22CS024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EA35D-E779-3405-78FB-996D9666E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14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5EFB2E-E56C-E047-CC3C-C9E4050B8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CF3CA7C-65BF-71DC-9E9E-C3956834BC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60639" y="537556"/>
            <a:ext cx="6553200" cy="715963"/>
          </a:xfrm>
        </p:spPr>
        <p:txBody>
          <a:bodyPr/>
          <a:lstStyle/>
          <a:p>
            <a:pPr algn="l"/>
            <a:r>
              <a:rPr lang="en-IN" sz="3600" b="1" dirty="0"/>
              <a:t>Success Criteria</a:t>
            </a:r>
            <a:endParaRPr lang="en-US" sz="3600" b="1" dirty="0">
              <a:solidFill>
                <a:srgbClr val="4D4D4D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5AF22BF-AC78-74EF-6EEE-550102FCDD12}"/>
              </a:ext>
            </a:extLst>
          </p:cNvPr>
          <p:cNvSpPr txBox="1">
            <a:spLocks noChangeArrowheads="1"/>
          </p:cNvSpPr>
          <p:nvPr/>
        </p:nvSpPr>
        <p:spPr>
          <a:xfrm>
            <a:off x="2136059" y="3200400"/>
            <a:ext cx="6553200" cy="715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/>
              <a:t>Impact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048C45-82BA-F881-CB88-C10F1B7A7528}"/>
              </a:ext>
            </a:extLst>
          </p:cNvPr>
          <p:cNvSpPr txBox="1"/>
          <p:nvPr/>
        </p:nvSpPr>
        <p:spPr>
          <a:xfrm>
            <a:off x="2136059" y="3938486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Support rural artisans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Promote eco-friendly living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Replace plastic usage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74A1278-7E48-FBE3-38CA-14BE2804E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5891" y="1186754"/>
            <a:ext cx="582807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High-quality readable card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Artisan name + phone editable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Gallery-like UI 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C08CC2-6DFF-B91F-4D5E-398897B1D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8400" y="6370894"/>
            <a:ext cx="4267200" cy="365125"/>
          </a:xfrm>
        </p:spPr>
        <p:txBody>
          <a:bodyPr/>
          <a:lstStyle/>
          <a:p>
            <a:r>
              <a:rPr lang="en-US" dirty="0" err="1"/>
              <a:t>KumbaraKala</a:t>
            </a:r>
            <a:r>
              <a:rPr lang="en-US" dirty="0"/>
              <a:t> | Anushka Basak | 1JS22CS024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D6D4BFE-53DE-7EFC-FDDB-61CB60CD2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960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51EAD-7C7E-3A99-999B-B41CD1124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68">
            <a:extLst>
              <a:ext uri="{FF2B5EF4-FFF2-40B4-BE49-F238E27FC236}">
                <a16:creationId xmlns:a16="http://schemas.microsoft.com/office/drawing/2014/main" id="{F358C380-D8B0-5DCF-0266-56233CFEF52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23962" y="384687"/>
            <a:ext cx="6696075" cy="22860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hlink">
                        <a:gamma/>
                        <a:shade val="46275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latinLnBrk="1">
              <a:defRPr/>
            </a:pPr>
            <a:r>
              <a:rPr kumimoji="1" lang="en-US" altLang="ko-KR" sz="3600" b="1" dirty="0">
                <a:solidFill>
                  <a:schemeClr val="bg1"/>
                </a:solidFill>
                <a:ea typeface="굴림" pitchFamily="34" charset="-127"/>
              </a:rPr>
              <a:t>Challenges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0C85AD-0D8C-02A8-B4C0-468B7A556739}"/>
              </a:ext>
            </a:extLst>
          </p:cNvPr>
          <p:cNvSpPr/>
          <p:nvPr/>
        </p:nvSpPr>
        <p:spPr>
          <a:xfrm>
            <a:off x="457200" y="909484"/>
            <a:ext cx="3962400" cy="5791200"/>
          </a:xfrm>
          <a:prstGeom prst="rect">
            <a:avLst/>
          </a:prstGeom>
          <a:noFill/>
          <a:ln w="57150">
            <a:solidFill>
              <a:srgbClr val="3D0E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B1DF41-77D1-A681-1D4D-28E40907A877}"/>
              </a:ext>
            </a:extLst>
          </p:cNvPr>
          <p:cNvSpPr/>
          <p:nvPr/>
        </p:nvSpPr>
        <p:spPr>
          <a:xfrm>
            <a:off x="4839929" y="909484"/>
            <a:ext cx="3962400" cy="5791200"/>
          </a:xfrm>
          <a:prstGeom prst="rect">
            <a:avLst/>
          </a:prstGeom>
          <a:noFill/>
          <a:ln w="57150">
            <a:solidFill>
              <a:srgbClr val="3D0E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690B9C-268D-35BD-9B7F-86F0AC245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1246239"/>
            <a:ext cx="3429000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ISSUES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1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Overlaying text on images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000" dirty="0">
              <a:solidFill>
                <a:schemeClr val="bg1"/>
              </a:solidFill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Maintaining image quality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000" dirty="0">
              <a:solidFill>
                <a:schemeClr val="bg1"/>
              </a:solidFill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WhatsApp sharing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6A2ADBA-544D-A66B-B10D-1C798719C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0374" y="1323183"/>
            <a:ext cx="3726426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1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SOLVED BY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1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solved using Canvas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IN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compression handling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IN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Intent integration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17F12AF-FFEA-871A-0C15-4342C9E67D2A}"/>
              </a:ext>
            </a:extLst>
          </p:cNvPr>
          <p:cNvCxnSpPr/>
          <p:nvPr/>
        </p:nvCxnSpPr>
        <p:spPr>
          <a:xfrm>
            <a:off x="3810000" y="2209800"/>
            <a:ext cx="12192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22AB6F9-B941-AEAF-34E6-B0C8ACA742FF}"/>
              </a:ext>
            </a:extLst>
          </p:cNvPr>
          <p:cNvCxnSpPr/>
          <p:nvPr/>
        </p:nvCxnSpPr>
        <p:spPr>
          <a:xfrm>
            <a:off x="3810000" y="2819400"/>
            <a:ext cx="1295400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68CA382-C454-9AA8-2194-F34A97758D0C}"/>
              </a:ext>
            </a:extLst>
          </p:cNvPr>
          <p:cNvCxnSpPr/>
          <p:nvPr/>
        </p:nvCxnSpPr>
        <p:spPr>
          <a:xfrm>
            <a:off x="3124200" y="3397045"/>
            <a:ext cx="1905000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CB56BBC-71A5-7562-5F3A-701733A1F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526" y="6380726"/>
            <a:ext cx="3726426" cy="365125"/>
          </a:xfrm>
        </p:spPr>
        <p:txBody>
          <a:bodyPr/>
          <a:lstStyle/>
          <a:p>
            <a:r>
              <a:rPr lang="en-US" dirty="0" err="1"/>
              <a:t>KumbaraKala</a:t>
            </a:r>
            <a:r>
              <a:rPr lang="en-US" dirty="0"/>
              <a:t> | Anushka Basak | 1JS22CS024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0F1B0BC-7374-53EE-550E-E1F65129E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18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83427-F453-9A44-F170-E624FBB0B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CFA3E0-D822-D079-C340-AF25E10EF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KumbaraKala | Anushka Basak | 1JS22CS024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82AB29-1690-C9B4-6BC8-EDEB9D2A0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B907EA-807D-BCD5-1EAA-2C46D3741D45}"/>
              </a:ext>
            </a:extLst>
          </p:cNvPr>
          <p:cNvSpPr txBox="1"/>
          <p:nvPr/>
        </p:nvSpPr>
        <p:spPr>
          <a:xfrm>
            <a:off x="685800" y="1676400"/>
            <a:ext cx="7772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solidFill>
                  <a:schemeClr val="bg1"/>
                </a:solidFill>
              </a:rPr>
              <a:t>The </a:t>
            </a:r>
            <a:r>
              <a:rPr lang="en-IN" sz="2000" dirty="0" err="1">
                <a:solidFill>
                  <a:schemeClr val="bg1"/>
                </a:solidFill>
              </a:rPr>
              <a:t>KumbaraKala</a:t>
            </a:r>
            <a:r>
              <a:rPr lang="en-IN" sz="2000" dirty="0">
                <a:solidFill>
                  <a:schemeClr val="bg1"/>
                </a:solidFill>
              </a:rPr>
              <a:t> application successfully promotes traditional clay products through a modern Android platform. It is an </a:t>
            </a:r>
            <a:r>
              <a:rPr lang="en-US" sz="2000" dirty="0">
                <a:solidFill>
                  <a:schemeClr val="bg1"/>
                </a:solidFill>
              </a:rPr>
              <a:t>AI-assisted app which also supports eco-friendly and </a:t>
            </a:r>
            <a:r>
              <a:rPr lang="en-US" sz="2000">
                <a:solidFill>
                  <a:schemeClr val="bg1"/>
                </a:solidFill>
              </a:rPr>
              <a:t>sustainable products.</a:t>
            </a:r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1026" name="Picture 2" descr="Various ceramic products from clay ...">
            <a:extLst>
              <a:ext uri="{FF2B5EF4-FFF2-40B4-BE49-F238E27FC236}">
                <a16:creationId xmlns:a16="http://schemas.microsoft.com/office/drawing/2014/main" id="{723C1BAF-B207-581A-F392-4C86FB4CC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950825"/>
            <a:ext cx="377877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6330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51EB07B-3BAB-CA7A-7654-E4A88A9AE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KumbaraKala | Anushka Basak | 1JS22CS024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C18B49-1E1A-9ACF-96C9-974766C47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949DCD-F2EE-0AAD-D08A-5BE40E2C391C}"/>
              </a:ext>
            </a:extLst>
          </p:cNvPr>
          <p:cNvSpPr txBox="1"/>
          <p:nvPr/>
        </p:nvSpPr>
        <p:spPr>
          <a:xfrm>
            <a:off x="1333500" y="228600"/>
            <a:ext cx="6477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TASKS SCREENSHOTS</a:t>
            </a:r>
            <a:endParaRPr lang="en-IN" sz="2400" dirty="0">
              <a:solidFill>
                <a:schemeClr val="bg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F1D359-953E-5D49-C205-154EB6844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962527"/>
            <a:ext cx="8610600" cy="493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900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16B4333-61A0-5EDF-E982-6C5BB53AA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KumbaraKala | Anushka Basak | 1JS22CS024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F07111-49FF-A6D5-16A6-EFA5F9755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6906CA-9956-9DB9-6412-DC38BF12C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53" y="201548"/>
            <a:ext cx="8229600" cy="29831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85AD37-A23F-4B82-26C4-C99F4E1EC1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601"/>
          <a:stretch>
            <a:fillRect/>
          </a:stretch>
        </p:blipFill>
        <p:spPr>
          <a:xfrm>
            <a:off x="800100" y="3276600"/>
            <a:ext cx="7543800" cy="2884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130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4383751-CE85-8545-9D5A-644123B3E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KumbaraKala | Anushka Basak | 1JS22CS024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4103BD-E347-8D4A-0732-ABB50F5C4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A8BE43-3B87-3C6F-EC4B-F31BD6A843FC}"/>
              </a:ext>
            </a:extLst>
          </p:cNvPr>
          <p:cNvSpPr txBox="1"/>
          <p:nvPr/>
        </p:nvSpPr>
        <p:spPr>
          <a:xfrm>
            <a:off x="2209800" y="381000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Key Learning Outcomes from Google Cloud Skill Badges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A4592E-23F8-324B-EFFA-B33FF7A77FA5}"/>
              </a:ext>
            </a:extLst>
          </p:cNvPr>
          <p:cNvSpPr txBox="1"/>
          <p:nvPr/>
        </p:nvSpPr>
        <p:spPr>
          <a:xfrm>
            <a:off x="381000" y="1997839"/>
            <a:ext cx="8458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Applying AI Principles with Google Cloud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Learned ethical and responsible AI practices.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Prompt Design in Vertex 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Created and tested prompts using Vertex AI.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Introduction to Responsible 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Understood safe and unbiased AI development.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Introduction to Large Language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Learned basics of Large Language Models (LLMs).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Introduction to Generative 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Explored concepts and uses of Generative AI.</a:t>
            </a:r>
          </a:p>
        </p:txBody>
      </p:sp>
    </p:spTree>
    <p:extLst>
      <p:ext uri="{BB962C8B-B14F-4D97-AF65-F5344CB8AC3E}">
        <p14:creationId xmlns:p14="http://schemas.microsoft.com/office/powerpoint/2010/main" val="20411997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ED89DCE-5A47-EA84-F69C-A1B32BC6A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KumbaraKala | Anushka Basak | 1JS22CS024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C2ACB9-3745-C8CB-C432-012790427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8811AB-9ED2-6201-A52C-EE7D22D44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41" y="258181"/>
            <a:ext cx="8556118" cy="4968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A21083-CC28-9E5F-3703-67050050DF47}"/>
              </a:ext>
            </a:extLst>
          </p:cNvPr>
          <p:cNvSpPr txBox="1"/>
          <p:nvPr/>
        </p:nvSpPr>
        <p:spPr>
          <a:xfrm>
            <a:off x="533400" y="5388044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Completed 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WorkManager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codelab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learning how to use Android’s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WorkManager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library to schedule and manage background tasks efficiently.</a:t>
            </a:r>
          </a:p>
        </p:txBody>
      </p:sp>
    </p:spTree>
    <p:extLst>
      <p:ext uri="{BB962C8B-B14F-4D97-AF65-F5344CB8AC3E}">
        <p14:creationId xmlns:p14="http://schemas.microsoft.com/office/powerpoint/2010/main" val="13739770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20EBD17-E7A9-BDC5-B81B-0410A9C12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KumbaraKala | Anushka Basak | 1JS22CS024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DB098F-2774-2D00-B688-40CE41F72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F813E9-CFA1-28B3-E8DA-F0BE4C340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62000"/>
            <a:ext cx="8686800" cy="504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9908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E0CF635-83D0-9D89-6EF8-0895BF0E4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KumbaraKala | Anushka Basak | 1JS22CS024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30E471-2E9F-86AB-BE26-4056E534A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753C1-3BC9-DC12-AED9-4423AAD69D1B}"/>
              </a:ext>
            </a:extLst>
          </p:cNvPr>
          <p:cNvSpPr txBox="1"/>
          <p:nvPr/>
        </p:nvSpPr>
        <p:spPr>
          <a:xfrm>
            <a:off x="1981200" y="388303"/>
            <a:ext cx="563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DIARY ENTRIES </a:t>
            </a:r>
            <a:endParaRPr lang="en-IN" sz="2800" dirty="0">
              <a:solidFill>
                <a:schemeClr val="bg2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12B040-14C6-138D-BDA9-8D1357170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447800"/>
            <a:ext cx="8458200" cy="426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879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A05DB-9C56-CADC-21C4-CE3EF92A8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02F0E9-906E-2A87-A497-21D833694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KumbaraKala | Anushka Basak | 1JS22CS024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33788-2787-B6D6-F802-5510F941F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8067CFB-EF3B-0177-0B63-4F85F0637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781" y="1828800"/>
            <a:ext cx="822960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Successfully completed an internship centered on AI-driven customer support automation using the Salesforce platform.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Acquired practical knowledge through interactive training programs,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codelabs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and real-time project simulations.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Explored the setup and management of AI-powered service agents along with cloud application concepts.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Enhanced technical expertise as well as communication and teamwork skills aligned with industry standards.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The internship experience strengthened understanding of AI technologies, automation processes, and professional work environments.</a:t>
            </a:r>
          </a:p>
        </p:txBody>
      </p:sp>
    </p:spTree>
    <p:extLst>
      <p:ext uri="{BB962C8B-B14F-4D97-AF65-F5344CB8AC3E}">
        <p14:creationId xmlns:p14="http://schemas.microsoft.com/office/powerpoint/2010/main" val="20358592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F24F0-7927-BAB4-F838-0684C1287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8229600" cy="1143000"/>
          </a:xfrm>
        </p:spPr>
        <p:txBody>
          <a:bodyPr>
            <a:normAutofit/>
          </a:bodyPr>
          <a:lstStyle/>
          <a:p>
            <a:r>
              <a:rPr lang="en-IN" sz="6600" b="1" i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EAB7E79-5AA2-9C0F-11F4-B1D39E2DA288}"/>
              </a:ext>
            </a:extLst>
          </p:cNvPr>
          <p:cNvSpPr txBox="1">
            <a:spLocks noChangeArrowheads="1"/>
          </p:cNvSpPr>
          <p:nvPr/>
        </p:nvSpPr>
        <p:spPr>
          <a:xfrm>
            <a:off x="2396613" y="5257800"/>
            <a:ext cx="6324600" cy="1410160"/>
          </a:xfrm>
          <a:prstGeom prst="rect">
            <a:avLst/>
          </a:prstGeom>
          <a:effectLst>
            <a:outerShdw dist="17961" dir="2700000" sx="1000" sy="1000" algn="ctr" rotWithShape="0">
              <a:schemeClr val="bg2"/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defRPr/>
            </a:pPr>
            <a:r>
              <a:rPr lang="en-US" sz="2400" dirty="0">
                <a:solidFill>
                  <a:schemeClr val="bg1"/>
                </a:solidFill>
              </a:rPr>
              <a:t>Presented by: Anushka Basak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USN – 1JS22CS024 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JSS Academy of Technical Education, Bengaluru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80F4B-A3AE-732A-3946-6D4625C3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62286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Другая 0">
      <a:dk1>
        <a:srgbClr val="262626"/>
      </a:dk1>
      <a:lt1>
        <a:srgbClr val="FFFFFF"/>
      </a:lt1>
      <a:dk2>
        <a:srgbClr val="4E4E4E"/>
      </a:dk2>
      <a:lt2>
        <a:srgbClr val="FFFFFF"/>
      </a:lt2>
      <a:accent1>
        <a:srgbClr val="F79431"/>
      </a:accent1>
      <a:accent2>
        <a:srgbClr val="FA331E"/>
      </a:accent2>
      <a:accent3>
        <a:srgbClr val="954605"/>
      </a:accent3>
      <a:accent4>
        <a:srgbClr val="DE5408"/>
      </a:accent4>
      <a:accent5>
        <a:srgbClr val="F79431"/>
      </a:accent5>
      <a:accent6>
        <a:srgbClr val="FA331E"/>
      </a:accent6>
      <a:hlink>
        <a:srgbClr val="954605"/>
      </a:hlink>
      <a:folHlink>
        <a:srgbClr val="B8B8B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1806</TotalTime>
  <Words>1208</Words>
  <Application>Microsoft Office PowerPoint</Application>
  <PresentationFormat>On-screen Show (4:3)</PresentationFormat>
  <Paragraphs>216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굴림</vt:lpstr>
      <vt:lpstr>微软雅黑</vt:lpstr>
      <vt:lpstr>Arial</vt:lpstr>
      <vt:lpstr>Calibri</vt:lpstr>
      <vt:lpstr>Sitka Display</vt:lpstr>
      <vt:lpstr>Times New Roman</vt:lpstr>
      <vt:lpstr>1_Office Theme</vt:lpstr>
      <vt:lpstr>DEPARTMENT OF COMPUTER SCIENCE AND ENGINEERING INTERNAL GUIDE – Ms. Sandhiya B ( Associate Professor) EXTERNAL GUIDE – Mr. Tirumal Mutalikdesai (Program Coordinator)</vt:lpstr>
      <vt:lpstr>COMPANY OVERVIEW</vt:lpstr>
      <vt:lpstr>INTERNSHIP OBJECTIVES</vt:lpstr>
      <vt:lpstr>ROLES AND RESPONSIBILITIES</vt:lpstr>
      <vt:lpstr>PowerPoint Presentation</vt:lpstr>
      <vt:lpstr>PROJECT OVERVIEW</vt:lpstr>
      <vt:lpstr>LEARNING OUTCOMES</vt:lpstr>
      <vt:lpstr>PowerPoint Presentation</vt:lpstr>
      <vt:lpstr>PowerPoint Presentation</vt:lpstr>
      <vt:lpstr>PowerPoint Presentation</vt:lpstr>
      <vt:lpstr>Core Features</vt:lpstr>
      <vt:lpstr>Firebase Usage</vt:lpstr>
      <vt:lpstr>Application Screenshots</vt:lpstr>
      <vt:lpstr>Application Screenshots</vt:lpstr>
      <vt:lpstr>PowerPoint Presentation</vt:lpstr>
      <vt:lpstr>Success Criteria</vt:lpstr>
      <vt:lpstr>PowerPoint Presentation</vt:lpstr>
      <vt:lpstr>CONCLUSION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Anushka Basak</cp:lastModifiedBy>
  <cp:revision>238</cp:revision>
  <dcterms:created xsi:type="dcterms:W3CDTF">2012-04-26T17:06:14Z</dcterms:created>
  <dcterms:modified xsi:type="dcterms:W3CDTF">2026-05-13T05:28:31Z</dcterms:modified>
</cp:coreProperties>
</file>